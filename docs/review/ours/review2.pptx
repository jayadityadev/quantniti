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7"/>
  </p:notesMasterIdLst>
  <p:sldIdLst>
    <p:sldId id="268" r:id="rId2"/>
    <p:sldId id="257" r:id="rId3"/>
    <p:sldId id="258" r:id="rId4"/>
    <p:sldId id="259" r:id="rId5"/>
    <p:sldId id="269" r:id="rId6"/>
    <p:sldId id="261" r:id="rId7"/>
    <p:sldId id="262" r:id="rId8"/>
    <p:sldId id="263" r:id="rId9"/>
    <p:sldId id="270" r:id="rId10"/>
    <p:sldId id="271" r:id="rId11"/>
    <p:sldId id="272" r:id="rId12"/>
    <p:sldId id="273" r:id="rId13"/>
    <p:sldId id="274" r:id="rId14"/>
    <p:sldId id="275" r:id="rId15"/>
    <p:sldId id="260" r:id="rId16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94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4B42EA-9E9E-482E-857C-50E7F5F74F25}" type="datetimeFigureOut">
              <a:rPr lang="en-IN" smtClean="0"/>
              <a:t>09-10-2026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F2C565-26FC-4AE9-BDDB-165DEF158F0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2450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1541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B51DF-62BB-4850-6901-771B353D4F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9B74DE-D143-4E30-3F98-1F212DEAFF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3AFBBC-7D8E-33AA-DDD6-78DC00E890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AA133A-4897-A7C4-BA9E-0FA3943A77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99855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66889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51447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1765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9FD67-A4D7-F8E6-52D4-71ABBF9880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7B0A377-9FD0-65AA-FF80-CBEFF3D56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A301F11-208C-0DE4-BE01-B8F8C81B42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7ADAD4-26EE-534D-2A8B-6B447BA364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575242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0008E-0995-3987-CD2D-7564F2AD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4F402C-A510-6283-C70C-52157C7465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063F2C0-9BCB-D6CB-4FED-B7E6D55AA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75B02B-7CB5-123E-FEB0-F863688E66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59973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81413B-E9D5-38FE-F1E5-A55D822E4F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2892E3-FD3F-8767-6EF8-A4BC7A7806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0DA396-4A54-BE3E-AD4E-8032E4367B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48013E-637A-565E-DA70-3FB53D2661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28619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21D0C-EFAF-28FF-5F8E-3F081A0FFC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676371C-9078-ADC7-4E4F-F82679E3A9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E99A84-26C9-718A-E8A8-16A36480A1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B85E2A-1F23-84EE-AFA0-0F04B7920F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842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A4177-3D98-4426-CFDF-6057C4BC9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36DC97-2BC5-3DB0-2CB4-50057B3808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2627DF-571C-8606-1744-AA2F5767F5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3EAB54-E2C3-4A37-28D3-9C0BB7443D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57335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BFD50-8533-BC8E-3F30-CD9D0DB58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38A62E6-66FC-364A-DE1B-854231586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A1A4F2-9744-BC16-7E3D-54920DEBBC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A23E4-0018-F4AC-B680-A4ACCD3CC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8759463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an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open-source product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software/hardware which is accessible and flexible to customers.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flexible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because of offering variety of digital and </a:t>
            </a:r>
            <a:r>
              <a:rPr lang="en-IN" sz="1200" dirty="0" err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analog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pins, SPI and PWM outputs.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 to use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connected to a computer via a USB and communicates using serial protocol.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Inexpensive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around 500 rupees per board with free authoring software.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has growing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online community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where lots of source code is available for use, share and post examples for others to use too. Arduino is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Cross-platform, 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which can work on Windows, Mac or Linux platforms.</a:t>
            </a:r>
          </a:p>
          <a:p>
            <a:pPr marL="342900" lvl="0" indent="-342900" algn="just">
              <a:lnSpc>
                <a:spcPct val="107000"/>
              </a:lnSpc>
              <a:spcAft>
                <a:spcPts val="800"/>
              </a:spcAft>
              <a:buFont typeface="Symbol" panose="05050102010706020507" pitchFamily="18" charset="2"/>
              <a:buChar char=""/>
            </a:pP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Arduino follows </a:t>
            </a:r>
            <a:r>
              <a:rPr lang="en-IN" sz="1200" b="1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Simple, clear programming environment as C language</a:t>
            </a:r>
            <a:r>
              <a:rPr lang="en-IN" sz="1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F2C565-26FC-4AE9-BDDB-165DEF158F08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26737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8A6040-2F92-4E28-B3BD-58926CEBBA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09510B-C052-471F-A3F3-E9FD022F7AE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FF15A9-A114-46C6-A187-6BBCEB62C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908E68-9F8A-4A9F-AF12-BDFDC2004E9F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027855-57EA-4B15-9984-0B57F27E3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29C9BC-5BD4-4C7C-A311-AB4217B2D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3736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C0E7C-7216-4376-B385-DB931678E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2022A7-1393-4BA5-A933-17F8AEB332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2FF8AA-2A0D-4BE4-913A-D1A8B9A61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E6C79B-3A48-4611-892A-9DE79C0A0192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41D70-AB7B-47B3-B420-B79B2C83E7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AFC80F-4A35-4562-A2F8-3D2AA3720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139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3F29A-3C0F-4A4D-92D2-CFF499B856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07EB75-107C-4A85-826C-74C80C255F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84B0DD-9D87-4E65-918F-06D006A4F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E5FC4-D370-464B-A06E-457ECAD69E84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9F6D14-E4B8-406D-B8EF-E1A51CB26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017E01-4639-4478-A176-0576DBC8E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2544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BEE2A-4B31-4299-91EB-40709CE8F4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8E92E-191C-4427-9BEB-530D4F70C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37735D-3608-49FD-ACC7-2D489B9A18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2009F2-283B-4A2B-B3EE-9A252B56BD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E7878-20FE-4C2E-8C78-A855FE095A7E}" type="datetime1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7DE50D-EFE9-40B0-9395-DE4CBF5345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1928B2-E0B7-4467-B7DB-7F848CD4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91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6756C-339A-4367-8B26-982E8C36B2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C13968-F16F-4DA0-B61C-882828435D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8FECA0-37FE-4F17-AA2E-C99A32B0C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1E2D60-5E3C-444D-85FB-9382ACA05A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520DAD-4985-4E0B-AF64-7EA2662ED5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61D354-F4CC-4695-BD68-654C81B1A8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B3058-E3BB-4823-8762-5C6F89557C29}" type="datetime1">
              <a:rPr lang="en-IN" smtClean="0"/>
              <a:t>09-10-2026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C8451A-8809-4C03-903A-E7EAE35C59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DFC9F4-CB4A-40CB-BFAA-931474EB1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7549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B7BC0-99D2-4BA9-819C-441347B1B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28B129-F293-4F47-9043-6FF00D263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A5CFC-F4D1-42C5-A7C7-5B6E805C1581}" type="datetime1">
              <a:rPr lang="en-IN" smtClean="0"/>
              <a:t>09-10-2026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74F72A-5779-43A4-B96B-89FF47B29B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672D66-666F-4D0B-B731-97E04CD33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32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1BAAF9-65F3-4683-82FE-9DB38227B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50CF8-97C1-4599-A83F-07F9F35396C7}" type="datetime1">
              <a:rPr lang="en-IN" smtClean="0"/>
              <a:t>09-10-2026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18E1D4-705D-4DA8-8479-0FEEE324E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5F62-ACB3-4ED6-9666-F8C2D33AC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14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C8633-BDFF-44E9-BA19-B07E6230A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4B19D1-056B-4C44-ABEC-218CBB764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C90BEB-9B5D-4863-80B4-7F421CD53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18E5E8-D840-412D-97C1-CFC6BE645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6994A-0A29-4E48-A241-F8D60086EA3C}" type="datetime1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0671BC-A4B8-456B-B93B-C68E51969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04C19D-0A70-4C8B-A873-E5B5C3B67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49830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515028-807E-4484-94A7-9E5604D84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87DB926-3C30-4B65-8D30-FE4627B361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836963-48EC-45C6-AEC9-0ADCD03835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F468A5-A168-4CCF-A0B3-011DA783C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2FC2AF-DE68-443B-B99D-8E826F1EAFAF}" type="datetime1">
              <a:rPr lang="en-IN" smtClean="0"/>
              <a:t>09-10-2026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0C3B7C-F84E-41B8-9F25-9115512F4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B1FCF0-DD0A-4AFC-8B1F-88B7B85B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198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94DF96-4C31-4415-A9C8-9804340041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CCA3F9-7214-4C74-B612-979465F237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77ED4-6CDF-4E32-B617-CD2B7CB4A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5CB67-86B3-4C99-8FF8-3F5131B629A5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1B8C3C-F7FA-435F-8D19-C959906BDD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CA63C-DAEF-4020-9746-895AF960E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3706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AEA6405-20B0-4ACD-AA72-A324D32A3E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A78A3E-9557-44BA-872F-75D0EDBF8E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19931E-44AF-4214-9626-CD07835B8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70259-A48A-4813-9F2B-3CAD864A3794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6A9D04-FF45-4DE5-B291-6E2BF05FE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6822-E7B3-4028-9EEA-28F85FE64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2318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C94E711-2B5E-45F4-8A36-6C7E723BA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D821C4-2D13-492C-ACD4-143BA32F9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79368D-DA6D-4E3E-B64E-A50C390FBA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6AA276-F727-4F7E-B9E2-A14FEA8FDA45}" type="datetime1">
              <a:rPr lang="en-IN" smtClean="0"/>
              <a:t>09-10-2026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116A77-474B-409D-ADBA-5F60240821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BFB593-3BAC-4EDE-A910-C9906DB42F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DE106B-8933-499E-B64E-7DFAEA3B4E5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603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png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jpe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cfe.org.in/reports/" TargetMode="External"/><Relationship Id="rId5" Type="http://schemas.openxmlformats.org/officeDocument/2006/relationships/hyperlink" Target="https://www.sebi.gov.in/reports-and-statistics/" TargetMode="External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41D3464-6C8C-4524-A0D4-E3B739681D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585317" y="4980136"/>
            <a:ext cx="4412719" cy="1655762"/>
          </a:xfrm>
        </p:spPr>
        <p:txBody>
          <a:bodyPr>
            <a:norm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Guided By: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Dr. Beena K.</a:t>
            </a:r>
          </a:p>
          <a:p>
            <a:pPr marL="0" indent="0" algn="l">
              <a:lnSpc>
                <a:spcPct val="90000"/>
              </a:lnSpc>
              <a:spcBef>
                <a:spcPts val="0"/>
              </a:spcBef>
              <a:buNone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Assistant Professor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93964" y="136524"/>
            <a:ext cx="11877963" cy="6584951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1779" y="328027"/>
            <a:ext cx="1157273" cy="1324994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427CA1D6-E331-4837-A4D1-D4D390759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</a:t>
            </a:fld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7351E69-D750-4B06-9064-0602566C3DCF}"/>
              </a:ext>
            </a:extLst>
          </p:cNvPr>
          <p:cNvSpPr txBox="1"/>
          <p:nvPr/>
        </p:nvSpPr>
        <p:spPr>
          <a:xfrm>
            <a:off x="1521896" y="2279167"/>
            <a:ext cx="964961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Department of Computer Science and Engineering</a:t>
            </a:r>
          </a:p>
          <a:p>
            <a:pPr algn="ctr"/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MAJOR PROJECT PHASE II (BCS786) – Review 2</a:t>
            </a:r>
          </a:p>
          <a:p>
            <a:pPr algn="ctr"/>
            <a:r>
              <a:rPr lang="en-US" sz="3200" b="1" dirty="0" err="1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QuantNiti</a:t>
            </a:r>
            <a:endParaRPr lang="en-US" sz="32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pPr algn="ctr"/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An AI-Driven Regime-Adaptive Portfolio Intelligence and Decision Support System for Indian Retail Investors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4" name="Content Placeholder 11">
            <a:extLst>
              <a:ext uri="{FF2B5EF4-FFF2-40B4-BE49-F238E27FC236}">
                <a16:creationId xmlns:a16="http://schemas.microsoft.com/office/drawing/2014/main" id="{7B0C3EDD-C2AE-4B86-AF80-80BA847639F4}"/>
              </a:ext>
            </a:extLst>
          </p:cNvPr>
          <p:cNvSpPr txBox="1">
            <a:spLocks/>
          </p:cNvSpPr>
          <p:nvPr/>
        </p:nvSpPr>
        <p:spPr>
          <a:xfrm>
            <a:off x="576907" y="4788634"/>
            <a:ext cx="4745864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Aryaman Tiwari	1KS23CS020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Chirag T.		1KS23CS034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 err="1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Durgashree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M.	1KS23CS043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Jayaditya Dev	1KS23CS059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endParaRPr lang="en-US" sz="20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634AB7-519A-41FC-B09C-FDD726D76C1D}"/>
              </a:ext>
            </a:extLst>
          </p:cNvPr>
          <p:cNvSpPr txBox="1"/>
          <p:nvPr/>
        </p:nvSpPr>
        <p:spPr>
          <a:xfrm>
            <a:off x="2902958" y="4557801"/>
            <a:ext cx="895469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 dirty="0">
                <a:solidFill>
                  <a:schemeClr val="accent1">
                    <a:lumMod val="75000"/>
                  </a:schemeClr>
                </a:solidFill>
                <a:latin typeface="Bookman Old Style" panose="02050604050505020204" pitchFamily="18" charset="0"/>
              </a:rPr>
              <a:t>       		                   	 Batch No.:  2026_CSE_01</a:t>
            </a:r>
            <a:endParaRPr lang="en-IN" sz="2400" b="1" dirty="0">
              <a:solidFill>
                <a:schemeClr val="accent1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093CA3-CA0E-450C-BA27-FE81BB85224F}"/>
              </a:ext>
            </a:extLst>
          </p:cNvPr>
          <p:cNvSpPr/>
          <p:nvPr/>
        </p:nvSpPr>
        <p:spPr>
          <a:xfrm>
            <a:off x="1521896" y="312340"/>
            <a:ext cx="10014198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KAMMAVARI SANGHAM(R) - 1952</a:t>
            </a:r>
            <a:endParaRPr lang="en-IN" dirty="0">
              <a:solidFill>
                <a:srgbClr val="FF0000"/>
              </a:solidFill>
            </a:endParaRPr>
          </a:p>
          <a:p>
            <a:pPr algn="ctr"/>
            <a:r>
              <a:rPr lang="en-IN" sz="4400" b="1" cap="all" dirty="0">
                <a:solidFill>
                  <a:schemeClr val="accent1">
                    <a:lumMod val="75000"/>
                  </a:schemeClr>
                </a:solidFill>
              </a:rPr>
              <a:t>K. S. Institute of Technology</a:t>
            </a:r>
            <a:endParaRPr lang="en-IN" sz="4400" cap="all" dirty="0">
              <a:solidFill>
                <a:schemeClr val="accent1">
                  <a:lumMod val="75000"/>
                </a:schemeClr>
              </a:solidFill>
            </a:endParaRPr>
          </a:p>
          <a:p>
            <a:pPr algn="ctr"/>
            <a:r>
              <a:rPr lang="en-IN" b="1" dirty="0">
                <a:solidFill>
                  <a:srgbClr val="0070C0"/>
                </a:solidFill>
              </a:rPr>
              <a:t>An Autonomous Institution under VTU</a:t>
            </a:r>
            <a:r>
              <a:rPr lang="en-IN" dirty="0">
                <a:solidFill>
                  <a:srgbClr val="0070C0"/>
                </a:solidFill>
              </a:rPr>
              <a:t>, Belagavi &amp; Approved by AICTE, New Delhi.</a:t>
            </a:r>
          </a:p>
          <a:p>
            <a:pPr algn="ctr"/>
            <a:r>
              <a:rPr lang="en-IN" dirty="0">
                <a:solidFill>
                  <a:srgbClr val="0070C0"/>
                </a:solidFill>
              </a:rPr>
              <a:t>Accredited by NBA (CSE &amp; ECE) &amp; NAAC with </a:t>
            </a:r>
            <a:r>
              <a:rPr lang="en-IN" b="1" dirty="0">
                <a:solidFill>
                  <a:srgbClr val="0070C0"/>
                </a:solidFill>
              </a:rPr>
              <a:t>A⁺ Grade</a:t>
            </a:r>
            <a:endParaRPr lang="en-IN" dirty="0">
              <a:solidFill>
                <a:srgbClr val="0070C0"/>
              </a:solidFill>
            </a:endParaRPr>
          </a:p>
          <a:p>
            <a:pPr algn="ctr"/>
            <a:r>
              <a:rPr lang="en-IN" dirty="0">
                <a:solidFill>
                  <a:srgbClr val="0070C0"/>
                </a:solidFill>
              </a:rPr>
              <a:t>#14, Raghuvanahalli, Kanakapura Road, Bengaluru - 560 109</a:t>
            </a:r>
            <a:endParaRPr lang="en-IN" dirty="0">
              <a:solidFill>
                <a:srgbClr val="0070C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1265567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/>
          <a:lstStyle/>
          <a:p>
            <a:pPr algn="ctr"/>
            <a:r>
              <a:rPr lang="en-IN" sz="4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Contents</a:t>
            </a:r>
            <a:endParaRPr lang="en-IN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2</a:t>
            </a:fld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D4EFA5-E31A-8B8D-5EDD-E11239F14295}"/>
              </a:ext>
            </a:extLst>
          </p:cNvPr>
          <p:cNvSpPr txBox="1"/>
          <p:nvPr/>
        </p:nvSpPr>
        <p:spPr>
          <a:xfrm>
            <a:off x="755211" y="1861146"/>
            <a:ext cx="7994153" cy="40250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Socio-Economic Crisis &amp; Motivation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Exhaustive Competitive Audit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Formal Problem Statement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Engineering Objectives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End-to-End System Architecture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Interfacing of Models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Experimentation and Testing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Preliminary Results &amp; Analysis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Live Device-to-Device Demonstration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Explainable AI (XAI) Trust Architecture &amp; </a:t>
            </a:r>
            <a:r>
              <a:rPr lang="en-US" sz="2000" dirty="0" err="1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NitiBot</a:t>
            </a:r>
            <a:endParaRPr lang="en-US" sz="20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Conclusion &amp; Future Roadmap</a:t>
            </a:r>
          </a:p>
          <a:p>
            <a:pPr marL="342900" lvl="0" indent="-342900" algn="just">
              <a:lnSpc>
                <a:spcPct val="107000"/>
              </a:lnSpc>
              <a:buFont typeface="Symbol" panose="05050102010706020507" pitchFamily="18" charset="2"/>
              <a:buChar char=""/>
            </a:pPr>
            <a:r>
              <a:rPr lang="en-US" sz="20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752271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/>
          <a:p>
            <a:pPr algn="ctr"/>
            <a:r>
              <a:rPr lang="en-US" sz="2800" b="1" dirty="0">
                <a:solidFill>
                  <a:srgbClr val="C00000"/>
                </a:solidFill>
                <a:latin typeface="Bookman Old Style" panose="02050604050505020204" pitchFamily="18" charset="0"/>
              </a:rPr>
              <a:t>Socio-Economic Crisis: The Retail Capital Dilemma</a:t>
            </a:r>
            <a:endParaRPr lang="en-IN" sz="2800" b="1" dirty="0">
              <a:solidFill>
                <a:srgbClr val="C000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3</a:t>
            </a:fld>
            <a:endParaRPr lang="en-IN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617591-FCBD-38E6-74BC-BE442E8828AD}"/>
              </a:ext>
            </a:extLst>
          </p:cNvPr>
          <p:cNvSpPr txBox="1"/>
          <p:nvPr/>
        </p:nvSpPr>
        <p:spPr>
          <a:xfrm>
            <a:off x="837219" y="1482655"/>
            <a:ext cx="32400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240.6M+ DEMAT</a:t>
            </a:r>
          </a:p>
          <a:p>
            <a:pPr algn="ctr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24+ Crore demat accounts in India; 122M unique investors (NSE 2026).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517BE3C-1B25-4FEC-DF7C-D0C1E4856D91}"/>
              </a:ext>
            </a:extLst>
          </p:cNvPr>
          <p:cNvSpPr txBox="1"/>
          <p:nvPr/>
        </p:nvSpPr>
        <p:spPr>
          <a:xfrm>
            <a:off x="4471381" y="1482655"/>
            <a:ext cx="32400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89% TO 93% LOSSES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Active retail traders in net losses (Official SEBI empirical study).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7BA9FE6-8845-8275-E424-34517189156F}"/>
              </a:ext>
            </a:extLst>
          </p:cNvPr>
          <p:cNvSpPr txBox="1"/>
          <p:nvPr/>
        </p:nvSpPr>
        <p:spPr>
          <a:xfrm>
            <a:off x="8105543" y="1482655"/>
            <a:ext cx="3240000" cy="132343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27% LITERACY</a:t>
            </a:r>
          </a:p>
          <a:p>
            <a:pPr algn="ctr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financial literacy rate (NCFE-FLIS benchmark).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73C542-1303-0372-AE1F-125924F2044C}"/>
              </a:ext>
            </a:extLst>
          </p:cNvPr>
          <p:cNvSpPr txBox="1"/>
          <p:nvPr/>
        </p:nvSpPr>
        <p:spPr>
          <a:xfrm>
            <a:off x="837219" y="3019817"/>
            <a:ext cx="10508324" cy="32686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Core Socio-Economic Bottlenecks: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Loss: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Retail participants lose an average of ₹1.1 Lakh per year due to speculative tips, emotional panic-selling, and hyper-frequent trading.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Advisory Trap: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Bank wealth managers charge 1.5%–2.5% annual AUM fees, eroding 25%–35% of compounding returns over 10 years, with minimum barriers of ₹5 Lakhs+.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Social Mission: </a:t>
            </a:r>
            <a:r>
              <a:rPr lang="en-US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provide 24 crore everyday Indian citizens with free, regime-aware, explainable quantitative wealth defense for capital as low as ₹5,000.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077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/>
          <a:p>
            <a:pPr lvl="0" algn="ctr">
              <a:lnSpc>
                <a:spcPct val="107000"/>
              </a:lnSpc>
            </a:pPr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Platform Audit: Why Existing Solutions Fail Retail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4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4889" y="1181496"/>
            <a:ext cx="11260242" cy="5103019"/>
          </a:xfrm>
        </p:spPr>
        <p:txBody>
          <a:bodyPr>
            <a:norm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endParaRPr lang="en-IN" sz="4000" dirty="0">
              <a:solidFill>
                <a:schemeClr val="tx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IN" sz="4400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1A2AB40-D832-10EB-F8E1-8A1D5879B7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5686494"/>
              </p:ext>
            </p:extLst>
          </p:nvPr>
        </p:nvGraphicFramePr>
        <p:xfrm>
          <a:off x="404889" y="1707434"/>
          <a:ext cx="11441856" cy="446499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481663">
                  <a:extLst>
                    <a:ext uri="{9D8B030D-6E8A-4147-A177-3AD203B41FA5}">
                      <a16:colId xmlns:a16="http://schemas.microsoft.com/office/drawing/2014/main" val="3088879744"/>
                    </a:ext>
                  </a:extLst>
                </a:gridCol>
                <a:gridCol w="1443789">
                  <a:extLst>
                    <a:ext uri="{9D8B030D-6E8A-4147-A177-3AD203B41FA5}">
                      <a16:colId xmlns:a16="http://schemas.microsoft.com/office/drawing/2014/main" val="4225345325"/>
                    </a:ext>
                  </a:extLst>
                </a:gridCol>
                <a:gridCol w="1688477">
                  <a:extLst>
                    <a:ext uri="{9D8B030D-6E8A-4147-A177-3AD203B41FA5}">
                      <a16:colId xmlns:a16="http://schemas.microsoft.com/office/drawing/2014/main" val="793043690"/>
                    </a:ext>
                  </a:extLst>
                </a:gridCol>
                <a:gridCol w="1731721">
                  <a:extLst>
                    <a:ext uri="{9D8B030D-6E8A-4147-A177-3AD203B41FA5}">
                      <a16:colId xmlns:a16="http://schemas.microsoft.com/office/drawing/2014/main" val="3875029468"/>
                    </a:ext>
                  </a:extLst>
                </a:gridCol>
                <a:gridCol w="1890050">
                  <a:extLst>
                    <a:ext uri="{9D8B030D-6E8A-4147-A177-3AD203B41FA5}">
                      <a16:colId xmlns:a16="http://schemas.microsoft.com/office/drawing/2014/main" val="305494990"/>
                    </a:ext>
                  </a:extLst>
                </a:gridCol>
                <a:gridCol w="1514064">
                  <a:extLst>
                    <a:ext uri="{9D8B030D-6E8A-4147-A177-3AD203B41FA5}">
                      <a16:colId xmlns:a16="http://schemas.microsoft.com/office/drawing/2014/main" val="587278723"/>
                    </a:ext>
                  </a:extLst>
                </a:gridCol>
                <a:gridCol w="1692092">
                  <a:extLst>
                    <a:ext uri="{9D8B030D-6E8A-4147-A177-3AD203B41FA5}">
                      <a16:colId xmlns:a16="http://schemas.microsoft.com/office/drawing/2014/main" val="4006601406"/>
                    </a:ext>
                  </a:extLst>
                </a:gridCol>
              </a:tblGrid>
              <a:tr h="862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Platform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Forward Growth Projections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Regime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Portfolio Optimization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Budget Sizing (Whole Shares)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Dynamic Rebalance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Cost to Retail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844591"/>
                  </a:ext>
                </a:extLst>
              </a:tr>
              <a:tr h="8627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1700" b="1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Groww</a:t>
                      </a:r>
                      <a:endParaRPr lang="en-IN" sz="1700" b="1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Retrospective XIRR only; 0 forward forecast.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Static; shows daily index % change only.</a:t>
                      </a:r>
                      <a:endParaRPr lang="fr-FR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Manual; user picks stock quantities.</a:t>
                      </a:r>
                      <a:endParaRPr lang="en-IN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input; order fails if cash is short.</a:t>
                      </a:r>
                      <a:endParaRPr lang="en-IN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100% manual trade execution.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it-IT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₹20/trade</a:t>
                      </a:r>
                      <a:endParaRPr lang="en-US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78998"/>
                  </a:ext>
                </a:extLst>
              </a:tr>
              <a:tr h="97166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700" b="1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Zerodha (Streak)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hit-rate only; no price cones.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200 EMA/RSI rules per stock.</a:t>
                      </a:r>
                      <a:endParaRPr lang="en-IN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Single-stock only; cannot balance baskets.</a:t>
                      </a:r>
                      <a:endParaRPr lang="en-IN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Fixed lot per rule; no basket sizing.</a:t>
                      </a:r>
                      <a:endParaRPr lang="en-IN" sz="170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Indicator alerts; no portfolio diff.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₹690–₹1,400/</a:t>
                      </a:r>
                      <a:r>
                        <a:rPr lang="en-US" sz="1700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</a:t>
                      </a:r>
                      <a:r>
                        <a:rPr lang="en-US" sz="170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(Streak) + ₹20/trade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1990614"/>
                  </a:ext>
                </a:extLst>
              </a:tr>
              <a:tr h="1496888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Moneycontrol</a:t>
                      </a:r>
                      <a:r>
                        <a:rPr lang="en-IN" sz="17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(Pro)</a:t>
                      </a:r>
                      <a:endParaRPr lang="en-IN" sz="17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Consensus broker targets; 0 probabilistic cones.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News &amp; editorial opinion; no statistical ML.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Heuristic "X-Ray" (Rockets/Pigs); zero quant math.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logging only; no integer sizing engine.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Price/news alerts; no portfolio diff engine.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7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Free (Ad/Loan bloat) or ₹399–₹999/yr (Pro)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489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043115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1F22F7-4A64-610B-68DE-84BBF3E7F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8EDA990-80D2-0490-3D3A-FFACB107A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Autofit/>
          </a:bodyPr>
          <a:lstStyle/>
          <a:p>
            <a:pPr lvl="0" algn="ctr">
              <a:lnSpc>
                <a:spcPct val="107000"/>
              </a:lnSpc>
            </a:pPr>
            <a:r>
              <a:rPr lang="en-US" sz="24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Platform Audit: Why Existing Solutions Fail Retail Users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A83B5F-D695-A3C5-227A-2DFB11BF63D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A07CA8D-2250-D9DF-7D36-CB8717267D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5A6B69-5CDF-824E-B82F-31DDB7EB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5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F22253-F18B-B1D1-6F03-D60393B03F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318220"/>
                  </p:ext>
                </p:extLst>
              </p:nvPr>
            </p:nvGraphicFramePr>
            <p:xfrm>
              <a:off x="345256" y="1415285"/>
              <a:ext cx="11492249" cy="4756355"/>
            </p:xfrm>
            <a:graphic>
              <a:graphicData uri="http://schemas.openxmlformats.org/drawingml/2006/table">
                <a:tbl>
                  <a:tblPr>
                    <a:tableStyleId>{8799B23B-EC83-4686-B30A-512413B5E67A}</a:tableStyleId>
                  </a:tblPr>
                  <a:tblGrid>
                    <a:gridCol w="1387291">
                      <a:extLst>
                        <a:ext uri="{9D8B030D-6E8A-4147-A177-3AD203B41FA5}">
                          <a16:colId xmlns:a16="http://schemas.microsoft.com/office/drawing/2014/main" val="1529927043"/>
                        </a:ext>
                      </a:extLst>
                    </a:gridCol>
                    <a:gridCol w="1706394">
                      <a:extLst>
                        <a:ext uri="{9D8B030D-6E8A-4147-A177-3AD203B41FA5}">
                          <a16:colId xmlns:a16="http://schemas.microsoft.com/office/drawing/2014/main" val="631029627"/>
                        </a:ext>
                      </a:extLst>
                    </a:gridCol>
                    <a:gridCol w="1540565">
                      <a:extLst>
                        <a:ext uri="{9D8B030D-6E8A-4147-A177-3AD203B41FA5}">
                          <a16:colId xmlns:a16="http://schemas.microsoft.com/office/drawing/2014/main" val="2412789919"/>
                        </a:ext>
                      </a:extLst>
                    </a:gridCol>
                    <a:gridCol w="1739348">
                      <a:extLst>
                        <a:ext uri="{9D8B030D-6E8A-4147-A177-3AD203B41FA5}">
                          <a16:colId xmlns:a16="http://schemas.microsoft.com/office/drawing/2014/main" val="3588694809"/>
                        </a:ext>
                      </a:extLst>
                    </a:gridCol>
                    <a:gridCol w="1898374">
                      <a:extLst>
                        <a:ext uri="{9D8B030D-6E8A-4147-A177-3AD203B41FA5}">
                          <a16:colId xmlns:a16="http://schemas.microsoft.com/office/drawing/2014/main" val="4052797393"/>
                        </a:ext>
                      </a:extLst>
                    </a:gridCol>
                    <a:gridCol w="1878496">
                      <a:extLst>
                        <a:ext uri="{9D8B030D-6E8A-4147-A177-3AD203B41FA5}">
                          <a16:colId xmlns:a16="http://schemas.microsoft.com/office/drawing/2014/main" val="2293080559"/>
                        </a:ext>
                      </a:extLst>
                    </a:gridCol>
                    <a:gridCol w="1341781">
                      <a:extLst>
                        <a:ext uri="{9D8B030D-6E8A-4147-A177-3AD203B41FA5}">
                          <a16:colId xmlns:a16="http://schemas.microsoft.com/office/drawing/2014/main" val="3066538810"/>
                        </a:ext>
                      </a:extLst>
                    </a:gridCol>
                  </a:tblGrid>
                  <a:tr h="100370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Platform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Forward Growth Projections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Macro Regime Detection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Portfolio Optimization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Budget Sizing (Whole Shares)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Dynamic Rebalance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to Retail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0640193"/>
                      </a:ext>
                    </a:extLst>
                  </a:tr>
                  <a:tr h="100370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INDmoney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Past net worth &amp; XIRR tracking only.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News summaries; no structural break ML.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Passive tracking; sector pie charts only.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Broker redirect; no integer engine.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Mutual fund Robo-STP only; no equity diff.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Free (Advisory funnels)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0387367"/>
                      </a:ext>
                    </a:extLst>
                  </a:tr>
                  <a:tr h="1001309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TradingView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Historical bar replay; no forward cones.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 overlay of India VIX on charts.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Single-asset charts; zero portfolio math.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Fractional theory (e.g. 2.34 shares).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Script price alerts; no basket diff.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$180–$720/yr + 15m delay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72161"/>
                      </a:ext>
                    </a:extLst>
                  </a:tr>
                  <a:tr h="149712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QuantNiti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3-Tier Quantile Cones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lang="en-IN" sz="17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50</m:t>
                                  </m:r>
                                </m:sub>
                              </m:sSub>
                              <m:r>
                                <a:rPr lang="en-IN" sz="17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90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Unsupervised GMM Radar (Bull/Bear/Flat)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Hierarchical Risk Parity (HRP)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Greedy Whole Shares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sz="1700" b="0" i="1" dirty="0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𝑍</m:t>
                                  </m:r>
                                </m:e>
                                <m:sup>
                                  <m:r>
                                    <a:rPr lang="en-IN" sz="1700" b="0" i="1" dirty="0" smtClean="0"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Event-Triggered Regime Diffs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100% Free / 0% Fee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646764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AEF22253-F18B-B1D1-6F03-D60393B03F7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97318220"/>
                  </p:ext>
                </p:extLst>
              </p:nvPr>
            </p:nvGraphicFramePr>
            <p:xfrm>
              <a:off x="345256" y="1415285"/>
              <a:ext cx="11492249" cy="4756355"/>
            </p:xfrm>
            <a:graphic>
              <a:graphicData uri="http://schemas.openxmlformats.org/drawingml/2006/table">
                <a:tbl>
                  <a:tblPr>
                    <a:tableStyleId>{8799B23B-EC83-4686-B30A-512413B5E67A}</a:tableStyleId>
                  </a:tblPr>
                  <a:tblGrid>
                    <a:gridCol w="1387291">
                      <a:extLst>
                        <a:ext uri="{9D8B030D-6E8A-4147-A177-3AD203B41FA5}">
                          <a16:colId xmlns:a16="http://schemas.microsoft.com/office/drawing/2014/main" val="1529927043"/>
                        </a:ext>
                      </a:extLst>
                    </a:gridCol>
                    <a:gridCol w="1706394">
                      <a:extLst>
                        <a:ext uri="{9D8B030D-6E8A-4147-A177-3AD203B41FA5}">
                          <a16:colId xmlns:a16="http://schemas.microsoft.com/office/drawing/2014/main" val="631029627"/>
                        </a:ext>
                      </a:extLst>
                    </a:gridCol>
                    <a:gridCol w="1540565">
                      <a:extLst>
                        <a:ext uri="{9D8B030D-6E8A-4147-A177-3AD203B41FA5}">
                          <a16:colId xmlns:a16="http://schemas.microsoft.com/office/drawing/2014/main" val="2412789919"/>
                        </a:ext>
                      </a:extLst>
                    </a:gridCol>
                    <a:gridCol w="1739348">
                      <a:extLst>
                        <a:ext uri="{9D8B030D-6E8A-4147-A177-3AD203B41FA5}">
                          <a16:colId xmlns:a16="http://schemas.microsoft.com/office/drawing/2014/main" val="3588694809"/>
                        </a:ext>
                      </a:extLst>
                    </a:gridCol>
                    <a:gridCol w="1898374">
                      <a:extLst>
                        <a:ext uri="{9D8B030D-6E8A-4147-A177-3AD203B41FA5}">
                          <a16:colId xmlns:a16="http://schemas.microsoft.com/office/drawing/2014/main" val="4052797393"/>
                        </a:ext>
                      </a:extLst>
                    </a:gridCol>
                    <a:gridCol w="1878496">
                      <a:extLst>
                        <a:ext uri="{9D8B030D-6E8A-4147-A177-3AD203B41FA5}">
                          <a16:colId xmlns:a16="http://schemas.microsoft.com/office/drawing/2014/main" val="2293080559"/>
                        </a:ext>
                      </a:extLst>
                    </a:gridCol>
                    <a:gridCol w="1341781">
                      <a:extLst>
                        <a:ext uri="{9D8B030D-6E8A-4147-A177-3AD203B41FA5}">
                          <a16:colId xmlns:a16="http://schemas.microsoft.com/office/drawing/2014/main" val="3066538810"/>
                        </a:ext>
                      </a:extLst>
                    </a:gridCol>
                  </a:tblGrid>
                  <a:tr h="1003708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Platform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Forward Growth Projections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Macro Regime Detection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Portfolio Optimization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Budget Sizing (Whole Shares)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Dynamic Rebalance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Cost to Retail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990640193"/>
                      </a:ext>
                    </a:extLst>
                  </a:tr>
                  <a:tr h="1127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INDmoney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Past net worth &amp; XIRR tracking only.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News summaries; no structural break ML.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Passive tracking; sector pie charts only.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Broker redirect; no integer engine.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Mutual fund Robo-STP only; no equity diff.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Free (Advisory funnels)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810387367"/>
                      </a:ext>
                    </a:extLst>
                  </a:tr>
                  <a:tr h="1127760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TradingView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Historical bar replay; no forward cones.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Manual overlay of India VIX on charts.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Single-asset charts; zero portfolio math.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Fractional theory (e.g. 2.34 shares).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Script price alerts; no basket diff.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$180–$720/yr + 15m delay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29572161"/>
                      </a:ext>
                    </a:extLst>
                  </a:tr>
                  <a:tr h="1497127"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700" b="1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QuantNiti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81786" t="-217886" r="-492857" b="-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Unsupervised GMM Radar (Bull/Bear/Flat)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Hierarchical Risk Parity (HRP)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335577" t="-217886" r="-169872" b="-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Event-Triggered Regime Diffs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US" sz="1700" b="0" i="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100% Free / 0% Fee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306467649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53196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Formal Problem Statement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6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97924BC-994D-B494-EC13-A5673A8F65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381" y="1452967"/>
            <a:ext cx="10800000" cy="1440000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The Retail Information Vacuum:</a:t>
            </a:r>
          </a:p>
          <a:p>
            <a:pPr marL="0" indent="0" algn="just"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Retail investors in India's equity market lack forward-looking, regime-adaptive decision support tools—leaving them vulnerable to catastrophic drawdowns during macroeconomic shifts.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Content Placeholder 6">
                <a:extLst>
                  <a:ext uri="{FF2B5EF4-FFF2-40B4-BE49-F238E27FC236}">
                    <a16:creationId xmlns:a16="http://schemas.microsoft.com/office/drawing/2014/main" id="{DC56E2F2-D1E8-24F7-3FBE-A7D72FC89A9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381" y="3111225"/>
                <a:ext cx="10800000" cy="1440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2. Econometric Failure of Classical Models: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Textbook Markowitz Mean-Variance Optimization (MVO) acts as an "Error Maximizer" in real markets: inverting noisy sample covariance matrices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sz="2000" i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𝛴</m:t>
                        </m:r>
                      </m:e>
                      <m:sup>
                        <m:r>
                          <a:rPr lang="en-IN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l-GR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magnifies estimation error, producing extreme, unstable stock weights.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Content Placeholder 6">
                <a:extLst>
                  <a:ext uri="{FF2B5EF4-FFF2-40B4-BE49-F238E27FC236}">
                    <a16:creationId xmlns:a16="http://schemas.microsoft.com/office/drawing/2014/main" id="{DC56E2F2-D1E8-24F7-3FBE-A7D72FC89A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81" y="3111225"/>
                <a:ext cx="10800000" cy="1440000"/>
              </a:xfrm>
              <a:prstGeom prst="rect">
                <a:avLst/>
              </a:prstGeom>
              <a:blipFill>
                <a:blip r:embed="rId5"/>
                <a:stretch>
                  <a:fillRect l="-507" t="-3766" r="-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Content Placeholder 6">
                <a:extLst>
                  <a:ext uri="{FF2B5EF4-FFF2-40B4-BE49-F238E27FC236}">
                    <a16:creationId xmlns:a16="http://schemas.microsoft.com/office/drawing/2014/main" id="{41ADF0ED-E432-6F2A-57E9-1DD9B0286D2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691381" y="4769483"/>
                <a:ext cx="10800000" cy="1440000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just">
                  <a:buFont typeface="Arial" panose="020B0604020202020204" pitchFamily="34" charset="0"/>
                  <a:buNone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3. The Practical Execution Gap:</a:t>
                </a:r>
              </a:p>
              <a:p>
                <a:pPr marL="0" indent="0" algn="just">
                  <a:buNone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Institutional quantitative research assumes continuous fractional share trading. Indian exchanges legally require discrete integer shares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making theoretical models </a:t>
                </a:r>
                <a:r>
                  <a:rPr lang="en-US" sz="2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unexecutable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modest retail capital budgets (₹5,000–₹50,000).</a:t>
                </a:r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Content Placeholder 6">
                <a:extLst>
                  <a:ext uri="{FF2B5EF4-FFF2-40B4-BE49-F238E27FC236}">
                    <a16:creationId xmlns:a16="http://schemas.microsoft.com/office/drawing/2014/main" id="{41ADF0ED-E432-6F2A-57E9-1DD9B0286D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381" y="4769483"/>
                <a:ext cx="10800000" cy="1440000"/>
              </a:xfrm>
              <a:prstGeom prst="rect">
                <a:avLst/>
              </a:prstGeom>
              <a:blipFill>
                <a:blip r:embed="rId6"/>
                <a:stretch>
                  <a:fillRect l="-507" t="-3766" r="-5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45746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Engineering Objectives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7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11D8D6-990D-4463-B012-A9EE74C3D66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61260" y="1702358"/>
                <a:ext cx="11260242" cy="4342651"/>
              </a:xfrm>
            </p:spPr>
            <p:txBody>
              <a:bodyPr>
                <a:normAutofit/>
              </a:bodyPr>
              <a:lstStyle/>
              <a:p>
                <a:pPr marL="457200" lvl="0" indent="-4572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Unsupervised Regime Detection: Detect latent macroeconomic regimes (Bull, Bear, Sideways) using GMM on rolling returns, realized volatility, Parkinson volatility, and India VIX.</a:t>
                </a:r>
              </a:p>
              <a:p>
                <a:pPr marL="457200" lvl="0" indent="-4572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Multi-Horizon Quantile Forecaster: Compute 1M, 3M, 6M, and 12M probabilistic growth cones adhering to strict isotonic monotonicity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10</m:t>
                        </m:r>
                      </m:sub>
                    </m:sSub>
                    <m:r>
                      <a:rPr lang="en-IN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50</m:t>
                        </m:r>
                      </m:sub>
                    </m:sSub>
                    <m:r>
                      <a:rPr lang="en-IN" sz="2000" b="0" i="1" dirty="0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sSub>
                      <m:sSubPr>
                        <m:ctrlP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𝑄</m:t>
                        </m:r>
                      </m:e>
                      <m:sub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90</m:t>
                        </m:r>
                      </m:sub>
                    </m:sSub>
                  </m:oMath>
                </a14:m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).</a:t>
                </a:r>
              </a:p>
              <a:p>
                <a:pPr marL="457200" lvl="0" indent="-4572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Inversion-Free Portfolio Construction: Replace fragile Markowitz quadratic optimization with graph-clustered Hierarchical Risk Parity.</a:t>
                </a:r>
              </a:p>
              <a:p>
                <a:pPr marL="457200" lvl="0" indent="-457200" algn="just"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Discrete Execution Sizing: Formulate a greedy integer programming allocator converting continuous weights into whole shares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e>
                      <m:sub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</m:t>
                        </m:r>
                      </m:sub>
                    </m:sSub>
                    <m:r>
                      <a:rPr lang="en-US" sz="2000" i="1" dirty="0">
                        <a:solidFill>
                          <a:schemeClr val="tx2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sSup>
                      <m:sSupPr>
                        <m:ctrlP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𝑍</m:t>
                        </m:r>
                      </m:e>
                      <m:sup>
                        <m:r>
                          <a:rPr lang="en-IN" sz="2000" i="1" dirty="0">
                            <a:solidFill>
                              <a:schemeClr val="tx2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</m:sup>
                    </m:sSup>
                  </m:oMath>
                </a14:m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with minimal residual cash buffers.</a:t>
                </a:r>
              </a:p>
              <a:p>
                <a:pPr marL="457200" lvl="0" indent="-457200" algn="just">
                  <a:lnSpc>
                    <a:spcPct val="107000"/>
                  </a:lnSpc>
                  <a:spcAft>
                    <a:spcPts val="800"/>
                  </a:spcAft>
                  <a:buFont typeface="+mj-lt"/>
                  <a:buAutoNum type="arabicPeriod"/>
                </a:pP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Explainable AI Trust Card &amp; RAG Copilot: Synthesize a 4-pillar trust model and grounded RAG assistant (</a:t>
                </a:r>
                <a:r>
                  <a:rPr lang="en-IN" sz="2000" dirty="0" err="1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NitiBot</a:t>
                </a:r>
                <a:r>
                  <a:rPr lang="en-IN" sz="2000" dirty="0">
                    <a:solidFill>
                      <a:schemeClr val="tx2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to contextualize recommendations without hallucination.</a:t>
                </a:r>
              </a:p>
            </p:txBody>
          </p:sp>
        </mc:Choice>
        <mc:Fallback xmlns="">
          <p:sp>
            <p:nvSpPr>
              <p:cNvPr id="4" name="Content Placeholder 3">
                <a:extLst>
                  <a:ext uri="{FF2B5EF4-FFF2-40B4-BE49-F238E27FC236}">
                    <a16:creationId xmlns:a16="http://schemas.microsoft.com/office/drawing/2014/main" id="{1A11D8D6-990D-4463-B012-A9EE74C3D66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61260" y="1702358"/>
                <a:ext cx="11260242" cy="4342651"/>
              </a:xfrm>
              <a:blipFill>
                <a:blip r:embed="rId5"/>
                <a:stretch>
                  <a:fillRect l="-487" t="-701" r="-5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06170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End-to-End System Architecture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8</a:t>
            </a:fld>
            <a:endParaRPr lang="en-IN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40613EC4-BEDD-499F-AE81-B294AD536E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5"/>
          <a:srcRect l="2233" t="3130" r="2141" b="3044"/>
          <a:stretch>
            <a:fillRect/>
          </a:stretch>
        </p:blipFill>
        <p:spPr>
          <a:xfrm>
            <a:off x="980407" y="1164032"/>
            <a:ext cx="10473546" cy="5506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2588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618AC-4A9C-87A9-8E83-EEA7D6AFFD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FB0A504-CE3C-588F-8571-3C9ED1E0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Criteria 1: Interfacing of Models &amp; Data Contracts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8BC9AE6-E3E3-36EB-BE4E-D990A40FE796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60DA3E2-FEC2-496D-B5FD-0E9ACF739E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369510A-F4AA-6B4A-DD42-62115AEFA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9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90414F8-3BDA-8B17-18DD-720F28C4E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756543"/>
                  </p:ext>
                </p:extLst>
              </p:nvPr>
            </p:nvGraphicFramePr>
            <p:xfrm>
              <a:off x="426543" y="1644777"/>
              <a:ext cx="11329676" cy="4457813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66662">
                      <a:extLst>
                        <a:ext uri="{9D8B030D-6E8A-4147-A177-3AD203B41FA5}">
                          <a16:colId xmlns:a16="http://schemas.microsoft.com/office/drawing/2014/main" val="1305933170"/>
                        </a:ext>
                      </a:extLst>
                    </a:gridCol>
                    <a:gridCol w="2392625">
                      <a:extLst>
                        <a:ext uri="{9D8B030D-6E8A-4147-A177-3AD203B41FA5}">
                          <a16:colId xmlns:a16="http://schemas.microsoft.com/office/drawing/2014/main" val="2689765544"/>
                        </a:ext>
                      </a:extLst>
                    </a:gridCol>
                    <a:gridCol w="2325362">
                      <a:extLst>
                        <a:ext uri="{9D8B030D-6E8A-4147-A177-3AD203B41FA5}">
                          <a16:colId xmlns:a16="http://schemas.microsoft.com/office/drawing/2014/main" val="1598448005"/>
                        </a:ext>
                      </a:extLst>
                    </a:gridCol>
                    <a:gridCol w="4545027">
                      <a:extLst>
                        <a:ext uri="{9D8B030D-6E8A-4147-A177-3AD203B41FA5}">
                          <a16:colId xmlns:a16="http://schemas.microsoft.com/office/drawing/2014/main" val="2341820036"/>
                        </a:ext>
                      </a:extLst>
                    </a:gridCol>
                  </a:tblGrid>
                  <a:tr h="60316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Boundary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Sending Component (Producer)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Receiving Component (Consumer)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Mathematical Payload &amp; Data Contract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1454116"/>
                      </a:ext>
                    </a:extLst>
                  </a:tr>
                  <a:tr h="68443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1: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Macro ➔ Asset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Unsupervised GMM Classifier (classifier.py)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Multi-Factor Feature Ranker (factors.py)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Regime Posterior Vector: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</m:e>
                                <m:sub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sub>
                              </m:sSub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d>
                                <m:dPr>
                                  <m:begChr m:val="["/>
                                  <m:endChr m:val="]"/>
                                  <m:sepChr m:val=","/>
                                  <m:ctrlPr>
                                    <a:rPr lang="en-IN" sz="175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IN" sz="1750" b="0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Bull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IN" sz="1750" b="0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Bear</m:t>
                                      </m:r>
                                    </m:sub>
                                  </m:sSub>
                                </m:e>
                                <m:e>
                                  <m:sSub>
                                    <m:sSub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IN" sz="1750" b="0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Sideways</m:t>
                                      </m:r>
                                    </m:sub>
                                  </m:sSub>
                                </m:e>
                              </m:d>
                            </m:oMath>
                          </a14:m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 Dynamically modulates Momentum vs. Defensive factor weights.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594634264"/>
                      </a:ext>
                    </a:extLst>
                  </a:tr>
                  <a:tr h="59779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2: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Asset ➔ Optimizer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Quantile Forecaster + </a:t>
                          </a:r>
                          <a:r>
                            <a:rPr lang="en-IN" sz="1750" b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Ledoit</a:t>
                          </a: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-Wolf Covariance (covariance.py)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Hierarchical Risk Parity Solver (hrp.py)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Expected Return Vector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𝜇</m:t>
                                  </m:r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ℝ</m:t>
                                  </m:r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&amp; Regularized Covariance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𝛴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IN" sz="1750" b="0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LW</m:t>
                                  </m:r>
                                </m:sub>
                              </m:sSub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p>
                                <m:sSup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𝛿</m:t>
                                  </m:r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1750" b="0">
                                  <a:latin typeface="Cambria Math" panose="02040503050406030204" pitchFamily="18" charset="0"/>
                                </a:rPr>
                                <m:t>F</m:t>
                              </m:r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sSup>
                                    <m:sSup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𝛿</m:t>
                                      </m:r>
                                    </m:e>
                                    <m:sup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∗</m:t>
                                      </m:r>
                                    </m:sup>
                                  </m:sSup>
                                </m:e>
                              </m:d>
                              <m:r>
                                <m:rPr>
                                  <m:sty m:val="p"/>
                                </m:rPr>
                                <a:rPr lang="en-IN" sz="1750" b="0">
                                  <a:latin typeface="Cambria Math" panose="02040503050406030204" pitchFamily="18" charset="0"/>
                                </a:rPr>
                                <m:t>S</m:t>
                              </m:r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p>
                                <m:sSup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−7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I</m:t>
                                  </m:r>
                                </m:e>
                                <m:sub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1615688255"/>
                      </a:ext>
                    </a:extLst>
                  </a:tr>
                  <a:tr h="42197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3: Portfolio ➔ Sizing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HRP Optimization Solver (hrp.py)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Greedy Integer Allocator (discrete.py)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Continuous Target Weights </a:t>
                          </a:r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𝑤</m:t>
                                  </m:r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∗</m:t>
                                  </m:r>
                                </m:sup>
                              </m:sSup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IN" sz="1750" b="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["/>
                                      <m:endChr m:val="]"/>
                                      <m:sepChr m:val=","/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(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en-IN" sz="1750" b="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ingested with capital </a:t>
                          </a:r>
                          <a14:m>
                            <m:oMath xmlns:m="http://schemas.openxmlformats.org/officeDocument/2006/math">
                              <m:r>
                                <a:rPr lang="en-IN" sz="1750" b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live prices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.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84982741"/>
                      </a:ext>
                    </a:extLst>
                  </a:tr>
                  <a:tr h="102684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4: Execution ➔ Client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Discrete Allocator + Trust Card Generator (trust_card.py)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FastAPI</a:t>
                          </a: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ASGI Gateway ➔ React 18 PWA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Discrete Order Sheet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begChr m:val="{"/>
                                  <m:endChr m:val="}"/>
                                  <m:sepChr m:val=","/>
                                  <m:ctrlPr>
                                    <a:rPr lang="en-IN" sz="175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  <m:e>
                                  <m:r>
                                    <a:rPr lang="en-IN" sz="1750" b="0">
                                      <a:latin typeface="Cambria Math" panose="02040503050406030204" pitchFamily="18" charset="0"/>
                                    </a:rPr>
                                    <m:t>∈</m:t>
                                  </m:r>
                                  <m:sSup>
                                    <m:sSupPr>
                                      <m:ctrlPr>
                                        <a:rPr lang="en-IN" sz="1750" b="0" i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m:rPr>
                                          <m:sty m:val="p"/>
                                        </m:rPr>
                                        <a:rPr lang="en-IN" sz="1750" b="0" i="0" smtClean="0">
                                          <a:latin typeface="Cambria Math" panose="02040503050406030204" pitchFamily="18" charset="0"/>
                                        </a:rPr>
                                        <m:t>Z</m:t>
                                      </m:r>
                                    </m:e>
                                    <m:sup>
                                      <m:r>
                                        <a:rPr lang="en-IN" sz="1750" b="0">
                                          <a:latin typeface="Cambria Math" panose="02040503050406030204" pitchFamily="18" charset="0"/>
                                        </a:rPr>
                                        <m:t>+</m:t>
                                      </m:r>
                                    </m:sup>
                                  </m:sSup>
                                  <m:r>
                                    <m:rPr>
                                      <m:nor/>
                                    </m:rPr>
                                    <a:rPr lang="en-IN" sz="1750" b="0" i="0" smtClean="0">
                                      <a:latin typeface="Cambria Math" panose="02040503050406030204" pitchFamily="18" charset="0"/>
                                    </a:rPr>
                                    <m:t>, Cash </m:t>
                                  </m:r>
                                  <m:r>
                                    <m:rPr>
                                      <m:nor/>
                                    </m:rPr>
                                    <a:rPr lang="en-IN" sz="1750" b="0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Buffer</m:t>
                                  </m:r>
                                </m:e>
                              </m:d>
                              <m:r>
                                <a:rPr lang="en-IN" sz="1750" b="0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+ 4-Pillar Trust Card JSON payload over REST/SSE.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20183754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D90414F8-3BDA-8B17-18DD-720F28C4E35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86756543"/>
                  </p:ext>
                </p:extLst>
              </p:nvPr>
            </p:nvGraphicFramePr>
            <p:xfrm>
              <a:off x="426543" y="1644777"/>
              <a:ext cx="11329676" cy="4457813"/>
            </p:xfrm>
            <a:graphic>
              <a:graphicData uri="http://schemas.openxmlformats.org/drawingml/2006/table">
                <a:tbl>
                  <a:tblPr firstRow="1" bandRow="1">
                    <a:tableStyleId>{8799B23B-EC83-4686-B30A-512413B5E67A}</a:tableStyleId>
                  </a:tblPr>
                  <a:tblGrid>
                    <a:gridCol w="2066662">
                      <a:extLst>
                        <a:ext uri="{9D8B030D-6E8A-4147-A177-3AD203B41FA5}">
                          <a16:colId xmlns:a16="http://schemas.microsoft.com/office/drawing/2014/main" val="1305933170"/>
                        </a:ext>
                      </a:extLst>
                    </a:gridCol>
                    <a:gridCol w="2392625">
                      <a:extLst>
                        <a:ext uri="{9D8B030D-6E8A-4147-A177-3AD203B41FA5}">
                          <a16:colId xmlns:a16="http://schemas.microsoft.com/office/drawing/2014/main" val="2689765544"/>
                        </a:ext>
                      </a:extLst>
                    </a:gridCol>
                    <a:gridCol w="2325362">
                      <a:extLst>
                        <a:ext uri="{9D8B030D-6E8A-4147-A177-3AD203B41FA5}">
                          <a16:colId xmlns:a16="http://schemas.microsoft.com/office/drawing/2014/main" val="1598448005"/>
                        </a:ext>
                      </a:extLst>
                    </a:gridCol>
                    <a:gridCol w="4545027">
                      <a:extLst>
                        <a:ext uri="{9D8B030D-6E8A-4147-A177-3AD203B41FA5}">
                          <a16:colId xmlns:a16="http://schemas.microsoft.com/office/drawing/2014/main" val="2341820036"/>
                        </a:ext>
                      </a:extLst>
                    </a:gridCol>
                  </a:tblGrid>
                  <a:tr h="624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Boundary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Sending Component (Producer)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Receiving Component (Consumer)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Mathematical Payload &amp; Data Contract</a:t>
                          </a:r>
                        </a:p>
                      </a:txBody>
                      <a:tcPr anchor="ctr"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31454116"/>
                      </a:ext>
                    </a:extLst>
                  </a:tr>
                  <a:tr h="128974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1: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Macro ➔ Asset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Unsupervised GMM Classifier (classifier.py)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Multi-Factor Feature Ranker (factors.py)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464" t="-49528" r="-402" b="-19858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4634264"/>
                      </a:ext>
                    </a:extLst>
                  </a:tr>
                  <a:tr h="8915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2:</a:t>
                          </a:r>
                        </a:p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Asset ➔ Optimizer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Quantile Forecaster + </a:t>
                          </a:r>
                          <a:r>
                            <a:rPr lang="en-IN" sz="1750" b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Ledoit</a:t>
                          </a: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-Wolf Covariance (covariance.py)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Hierarchical Risk Parity Solver (hrp.py)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464" t="-217123" r="-402" b="-18835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15688255"/>
                      </a:ext>
                    </a:extLst>
                  </a:tr>
                  <a:tr h="624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3: Portfolio ➔ Sizing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HRP Optimization Solver (hrp.py)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Greedy Integer Allocator (discrete.py)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464" t="-449515" r="-402" b="-16699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84982741"/>
                      </a:ext>
                    </a:extLst>
                  </a:tr>
                  <a:tr h="1026844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Interface 4: Execution ➔ Client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Discrete Allocator + Trust Card Generator (trust_card.py)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750" b="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FastAPI</a:t>
                          </a:r>
                          <a:r>
                            <a:rPr lang="en-IN" sz="1750" b="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ASGI Gateway ➔ React 18 PWA</a:t>
                          </a:r>
                        </a:p>
                      </a:txBody>
                      <a:tcPr anchor="ctr"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49464" t="-334911" r="-402" b="-177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0183754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99816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C3180-C5CD-B8BD-5CD1-BA02D3BD9B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EFB81D46-8B02-7D8E-3962-95F038CFBD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Criteria 2: Comprehensive Test Harness &amp; Verification Seams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4F755E3-66C2-F3E3-BDD0-E5D761378B7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CD36612-C010-A1F2-BDDC-5EF21D6943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00194F3-D4FF-63EA-672E-C6C0BEED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10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0ABD78-B1C6-CDD3-F11F-8DB616D28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97885"/>
                  </p:ext>
                </p:extLst>
              </p:nvPr>
            </p:nvGraphicFramePr>
            <p:xfrm>
              <a:off x="556306" y="1906746"/>
              <a:ext cx="11070150" cy="4554012"/>
            </p:xfrm>
            <a:graphic>
              <a:graphicData uri="http://schemas.openxmlformats.org/drawingml/2006/table">
                <a:tbl>
                  <a:tblPr>
                    <a:tableStyleId>{0505E3EF-67EA-436B-97B2-0124C06EBD24}</a:tableStyleId>
                  </a:tblPr>
                  <a:tblGrid>
                    <a:gridCol w="2168454">
                      <a:extLst>
                        <a:ext uri="{9D8B030D-6E8A-4147-A177-3AD203B41FA5}">
                          <a16:colId xmlns:a16="http://schemas.microsoft.com/office/drawing/2014/main" val="2840973281"/>
                        </a:ext>
                      </a:extLst>
                    </a:gridCol>
                    <a:gridCol w="646168">
                      <a:extLst>
                        <a:ext uri="{9D8B030D-6E8A-4147-A177-3AD203B41FA5}">
                          <a16:colId xmlns:a16="http://schemas.microsoft.com/office/drawing/2014/main" val="999251586"/>
                        </a:ext>
                      </a:extLst>
                    </a:gridCol>
                    <a:gridCol w="8255528">
                      <a:extLst>
                        <a:ext uri="{9D8B030D-6E8A-4147-A177-3AD203B41FA5}">
                          <a16:colId xmlns:a16="http://schemas.microsoft.com/office/drawing/2014/main" val="3977194658"/>
                        </a:ext>
                      </a:extLst>
                    </a:gridCol>
                  </a:tblGrid>
                  <a:tr h="30842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Subsystem Seam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Tests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Invariants Verified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2082142889"/>
                      </a:ext>
                    </a:extLst>
                  </a:tr>
                  <a:tr h="63064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GMM Regime Engine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Probability simplex constraint (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  <m:t>𝜋</m:t>
                                      </m:r>
                                    </m:e>
                                    <m:sub>
                                      <m: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=1.0</m:t>
                              </m:r>
                            </m:oMath>
                          </a14:m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 deterministic centroid ordering; convergence stability.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3718447197"/>
                      </a:ext>
                    </a:extLst>
                  </a:tr>
                  <a:tr h="65142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Quantile Forecaster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Isotonic monotonicity invariant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10</m:t>
                                  </m:r>
                                </m:sub>
                              </m:s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50</m:t>
                                  </m:r>
                                </m:sub>
                              </m:s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≤</m:t>
                              </m:r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𝑄</m:t>
                                  </m:r>
                                </m:e>
                                <m:sub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90</m:t>
                                  </m:r>
                                </m:sub>
                              </m:sSub>
                            </m:oMath>
                          </a14:m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 strictly enforced across all 58 assets.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3596173241"/>
                      </a:ext>
                    </a:extLst>
                  </a:tr>
                  <a:tr h="70417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Ledoit</a:t>
                          </a: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-Wolf &amp; HRP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Positive-definiteness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min</m:t>
                                  </m:r>
                                </m:sub>
                              </m:s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&gt;0</m:t>
                              </m:r>
                            </m:oMath>
                          </a14:m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 budget conservation (</a:t>
                          </a:r>
                          <a14:m>
                            <m:oMath xmlns:m="http://schemas.openxmlformats.org/officeDocument/2006/math">
                              <m:nary>
                                <m:naryPr>
                                  <m:chr m:val="∑"/>
                                  <m:grow m:val="on"/>
                                  <m:subHide m:val="on"/>
                                  <m:supHide m:val="on"/>
                                  <m:ctrlPr>
                                    <a:rPr lang="en-IN" sz="180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e>
                                    <m:sub>
                                      <m:r>
                                        <a:rPr lang="en-IN" sz="180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</m:sSub>
                                </m:e>
                              </m:nary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=1.0</m:t>
                              </m:r>
                            </m:oMath>
                          </a14:m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 persona weight bounds.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2504092340"/>
                      </a:ext>
                    </a:extLst>
                  </a:tr>
                  <a:tr h="57445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Discrete Allocator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Non-negative cash buffer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m:rPr>
                                      <m:nor/>
                                    </m:rPr>
                                    <a:rPr lang="en-IN" sz="1800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residual</m:t>
                                  </m:r>
                                </m:sub>
                              </m:s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≥0</m:t>
                              </m:r>
                            </m:oMath>
                          </a14:m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 integer constraint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IN" sz="1800">
                                  <a:latin typeface="Cambria Math" panose="02040503050406030204" pitchFamily="18" charset="0"/>
                                </a:rPr>
                                <m:t>∈</m:t>
                              </m:r>
                              <m:sSup>
                                <m:sSupPr>
                                  <m:ctrlP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ℤ</m:t>
                                  </m:r>
                                </m:e>
                                <m:sup>
                                  <m:r>
                                    <a:rPr lang="en-IN" sz="180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</m:sup>
                              </m:sSup>
                            </m:oMath>
                          </a14:m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); capital conservation.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2880003921"/>
                      </a:ext>
                    </a:extLst>
                  </a:tr>
                  <a:tr h="80370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Backtest Engine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Zero lookahead bias; slippage and transaction fee </a:t>
                          </a:r>
                          <a:r>
                            <a:rPr lang="en-IN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modeling</a:t>
                          </a: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 Sharpe/Sortino mathematical integrity.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405101585"/>
                      </a:ext>
                    </a:extLst>
                  </a:tr>
                  <a:tr h="7971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Fact-Checker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Regex claim extraction; ground-truth discrepancy thresholds (3% verified, 8% flagged).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72354173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>
                <a:extLst>
                  <a:ext uri="{FF2B5EF4-FFF2-40B4-BE49-F238E27FC236}">
                    <a16:creationId xmlns:a16="http://schemas.microsoft.com/office/drawing/2014/main" id="{B10ABD78-B1C6-CDD3-F11F-8DB616D2808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7397885"/>
                  </p:ext>
                </p:extLst>
              </p:nvPr>
            </p:nvGraphicFramePr>
            <p:xfrm>
              <a:off x="556306" y="1906746"/>
              <a:ext cx="11070150" cy="4554012"/>
            </p:xfrm>
            <a:graphic>
              <a:graphicData uri="http://schemas.openxmlformats.org/drawingml/2006/table">
                <a:tbl>
                  <a:tblPr>
                    <a:tableStyleId>{0505E3EF-67EA-436B-97B2-0124C06EBD24}</a:tableStyleId>
                  </a:tblPr>
                  <a:tblGrid>
                    <a:gridCol w="2168454">
                      <a:extLst>
                        <a:ext uri="{9D8B030D-6E8A-4147-A177-3AD203B41FA5}">
                          <a16:colId xmlns:a16="http://schemas.microsoft.com/office/drawing/2014/main" val="2840973281"/>
                        </a:ext>
                      </a:extLst>
                    </a:gridCol>
                    <a:gridCol w="646168">
                      <a:extLst>
                        <a:ext uri="{9D8B030D-6E8A-4147-A177-3AD203B41FA5}">
                          <a16:colId xmlns:a16="http://schemas.microsoft.com/office/drawing/2014/main" val="999251586"/>
                        </a:ext>
                      </a:extLst>
                    </a:gridCol>
                    <a:gridCol w="8255528">
                      <a:extLst>
                        <a:ext uri="{9D8B030D-6E8A-4147-A177-3AD203B41FA5}">
                          <a16:colId xmlns:a16="http://schemas.microsoft.com/office/drawing/2014/main" val="3977194658"/>
                        </a:ext>
                      </a:extLst>
                    </a:gridCol>
                  </a:tblGrid>
                  <a:tr h="336292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Subsystem Seam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Tests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Invariants Verified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2082142889"/>
                      </a:ext>
                    </a:extLst>
                  </a:tr>
                  <a:tr h="630649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GMM Regime Engine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42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972" marR="61972" marT="30986" marB="30986" anchor="ctr">
                        <a:blipFill>
                          <a:blip r:embed="rId5"/>
                          <a:stretch>
                            <a:fillRect l="-34170" t="-69231" r="-148" b="-56826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718447197"/>
                      </a:ext>
                    </a:extLst>
                  </a:tr>
                  <a:tr h="651427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Quantile Forecaster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38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972" marR="61972" marT="30986" marB="30986" anchor="ctr">
                        <a:blipFill>
                          <a:blip r:embed="rId5"/>
                          <a:stretch>
                            <a:fillRect l="-34170" t="-164486" r="-148" b="-4523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96173241"/>
                      </a:ext>
                    </a:extLst>
                  </a:tr>
                  <a:tr h="704176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Ledoit</a:t>
                          </a: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-Wolf &amp; HRP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73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972" marR="61972" marT="30986" marB="30986" anchor="ctr">
                        <a:blipFill>
                          <a:blip r:embed="rId5"/>
                          <a:stretch>
                            <a:fillRect l="-34170" t="-246087" r="-148" b="-32087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504092340"/>
                      </a:ext>
                    </a:extLst>
                  </a:tr>
                  <a:tr h="63061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Discrete Allocator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31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972" marR="61972" marT="30986" marB="30986" anchor="ctr">
                        <a:blipFill>
                          <a:blip r:embed="rId5"/>
                          <a:stretch>
                            <a:fillRect l="-34170" t="-382692" r="-148" b="-2548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003921"/>
                      </a:ext>
                    </a:extLst>
                  </a:tr>
                  <a:tr h="80370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Backtest Engine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36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Zero lookahead bias; slippage and transaction fee </a:t>
                          </a:r>
                          <a:r>
                            <a:rPr lang="en-IN" sz="1800" dirty="0" err="1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modeling</a:t>
                          </a: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; Sharpe/Sortino mathematical integrity.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405101585"/>
                      </a:ext>
                    </a:extLst>
                  </a:tr>
                  <a:tr h="797145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b="1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AI Fact-Checker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8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23</a:t>
                          </a:r>
                        </a:p>
                      </a:txBody>
                      <a:tcPr marL="61972" marR="61972" marT="30986" marB="30986" anchor="ctr"/>
                    </a:tc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8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Regex claim extraction; ground-truth discrepancy thresholds (3% verified, 8% flagged).</a:t>
                          </a:r>
                        </a:p>
                      </a:txBody>
                      <a:tcPr marL="61972" marR="61972" marT="30986" marB="30986" anchor="ctr"/>
                    </a:tc>
                    <a:extLst>
                      <a:ext uri="{0D108BD9-81ED-4DB2-BD59-A6C34878D82A}">
                        <a16:rowId xmlns:a16="http://schemas.microsoft.com/office/drawing/2014/main" val="72354173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464E2322-A97E-5666-36CF-E0B05E7DC564}"/>
              </a:ext>
            </a:extLst>
          </p:cNvPr>
          <p:cNvSpPr txBox="1"/>
          <p:nvPr/>
        </p:nvSpPr>
        <p:spPr>
          <a:xfrm>
            <a:off x="473230" y="1402228"/>
            <a:ext cx="609760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Invariants Verified Across Seams: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22769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368250-5E2B-650F-2AF0-20BF48D35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454DE03F-6422-0CAF-FC06-67898F8D9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Criteria 3: Empirical Performance &amp; Benchmark Outperformance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9DCB8E0-2552-C612-7B86-3A04CE10E85C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322E5AB-434E-EA2F-2627-19B625890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A14E166-D995-B470-BBA4-CC806899A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11</a:t>
            </a:fld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E25516-1F72-7AC6-CAC9-908049A137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224352"/>
                  </p:ext>
                </p:extLst>
              </p:nvPr>
            </p:nvGraphicFramePr>
            <p:xfrm>
              <a:off x="404889" y="1692840"/>
              <a:ext cx="5351022" cy="43616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019650">
                      <a:extLst>
                        <a:ext uri="{9D8B030D-6E8A-4147-A177-3AD203B41FA5}">
                          <a16:colId xmlns:a16="http://schemas.microsoft.com/office/drawing/2014/main" val="310454963"/>
                        </a:ext>
                      </a:extLst>
                    </a:gridCol>
                    <a:gridCol w="764024">
                      <a:extLst>
                        <a:ext uri="{9D8B030D-6E8A-4147-A177-3AD203B41FA5}">
                          <a16:colId xmlns:a16="http://schemas.microsoft.com/office/drawing/2014/main" val="2046884979"/>
                        </a:ext>
                      </a:extLst>
                    </a:gridCol>
                    <a:gridCol w="987774">
                      <a:extLst>
                        <a:ext uri="{9D8B030D-6E8A-4147-A177-3AD203B41FA5}">
                          <a16:colId xmlns:a16="http://schemas.microsoft.com/office/drawing/2014/main" val="1737480162"/>
                        </a:ext>
                      </a:extLst>
                    </a:gridCol>
                    <a:gridCol w="770021">
                      <a:extLst>
                        <a:ext uri="{9D8B030D-6E8A-4147-A177-3AD203B41FA5}">
                          <a16:colId xmlns:a16="http://schemas.microsoft.com/office/drawing/2014/main" val="1882858184"/>
                        </a:ext>
                      </a:extLst>
                    </a:gridCol>
                    <a:gridCol w="1058779">
                      <a:extLst>
                        <a:ext uri="{9D8B030D-6E8A-4147-A177-3AD203B41FA5}">
                          <a16:colId xmlns:a16="http://schemas.microsoft.com/office/drawing/2014/main" val="518165982"/>
                        </a:ext>
                      </a:extLst>
                    </a:gridCol>
                    <a:gridCol w="750774">
                      <a:extLst>
                        <a:ext uri="{9D8B030D-6E8A-4147-A177-3AD203B41FA5}">
                          <a16:colId xmlns:a16="http://schemas.microsoft.com/office/drawing/2014/main" val="3101685963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Strategy /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Annual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Sharpe Ratio (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sz="150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sz="1500" smtClean="0"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e>
                                <m:sub>
                                  <m:r>
                                    <a:rPr lang="en-IN" sz="1500" smtClean="0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sub>
                              </m:sSub>
                              <m:r>
                                <a:rPr lang="en-IN" sz="1500" smtClean="0">
                                  <a:latin typeface="Cambria Math" panose="02040503050406030204" pitchFamily="18" charset="0"/>
                                </a:rPr>
                                <m:t>=6.5%</m:t>
                              </m:r>
                            </m:oMath>
                          </a14:m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Sortino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Drawdown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Calmar Ratio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6549324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QuantNiti HRP (Regime-Adaptive)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5057792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Classical Markowitz MVO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-28.6%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621067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Equal Weight (</a:t>
                          </a:r>
                          <a14:m>
                            <m:oMath xmlns:m="http://schemas.openxmlformats.org/officeDocument/2006/math">
                              <m:r>
                                <a:rPr lang="en-IN" sz="1500">
                                  <a:latin typeface="Cambria Math" panose="02040503050406030204" pitchFamily="18" charset="0"/>
                                </a:rPr>
                                <m:t>1/</m:t>
                              </m:r>
                              <m:r>
                                <a:rPr lang="en-IN" sz="1500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oMath>
                          </a14:m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-21.8%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275173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NIFTY 50 Buy &amp; Hold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-38.4%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75712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5EE25516-1F72-7AC6-CAC9-908049A137B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06224352"/>
                  </p:ext>
                </p:extLst>
              </p:nvPr>
            </p:nvGraphicFramePr>
            <p:xfrm>
              <a:off x="404889" y="1692840"/>
              <a:ext cx="5351022" cy="4361688"/>
            </p:xfrm>
            <a:graphic>
              <a:graphicData uri="http://schemas.openxmlformats.org/drawingml/2006/table">
                <a:tbl>
                  <a:tblPr>
                    <a:tableStyleId>{5C22544A-7EE6-4342-B048-85BDC9FD1C3A}</a:tableStyleId>
                  </a:tblPr>
                  <a:tblGrid>
                    <a:gridCol w="1019650">
                      <a:extLst>
                        <a:ext uri="{9D8B030D-6E8A-4147-A177-3AD203B41FA5}">
                          <a16:colId xmlns:a16="http://schemas.microsoft.com/office/drawing/2014/main" val="310454963"/>
                        </a:ext>
                      </a:extLst>
                    </a:gridCol>
                    <a:gridCol w="764024">
                      <a:extLst>
                        <a:ext uri="{9D8B030D-6E8A-4147-A177-3AD203B41FA5}">
                          <a16:colId xmlns:a16="http://schemas.microsoft.com/office/drawing/2014/main" val="2046884979"/>
                        </a:ext>
                      </a:extLst>
                    </a:gridCol>
                    <a:gridCol w="987774">
                      <a:extLst>
                        <a:ext uri="{9D8B030D-6E8A-4147-A177-3AD203B41FA5}">
                          <a16:colId xmlns:a16="http://schemas.microsoft.com/office/drawing/2014/main" val="1737480162"/>
                        </a:ext>
                      </a:extLst>
                    </a:gridCol>
                    <a:gridCol w="770021">
                      <a:extLst>
                        <a:ext uri="{9D8B030D-6E8A-4147-A177-3AD203B41FA5}">
                          <a16:colId xmlns:a16="http://schemas.microsoft.com/office/drawing/2014/main" val="1882858184"/>
                        </a:ext>
                      </a:extLst>
                    </a:gridCol>
                    <a:gridCol w="1058779">
                      <a:extLst>
                        <a:ext uri="{9D8B030D-6E8A-4147-A177-3AD203B41FA5}">
                          <a16:colId xmlns:a16="http://schemas.microsoft.com/office/drawing/2014/main" val="518165982"/>
                        </a:ext>
                      </a:extLst>
                    </a:gridCol>
                    <a:gridCol w="750774">
                      <a:extLst>
                        <a:ext uri="{9D8B030D-6E8A-4147-A177-3AD203B41FA5}">
                          <a16:colId xmlns:a16="http://schemas.microsoft.com/office/drawing/2014/main" val="3101685963"/>
                        </a:ext>
                      </a:extLst>
                    </a:gridCol>
                  </a:tblGrid>
                  <a:tr h="1024128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Strategy / Model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Annual Return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181481" t="-1190" r="-262963" b="-3327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Sortino Ratio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Maximum Drawdown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Calmar Ratio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626549324"/>
                      </a:ext>
                    </a:extLst>
                  </a:tr>
                  <a:tr h="10058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QuantNiti HRP (Regime-Adaptive)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18.4%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1.42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2.31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-12.4%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1.48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25057792"/>
                      </a:ext>
                    </a:extLst>
                  </a:tr>
                  <a:tr h="7772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Classical Markowitz MVO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14.2%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0.88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1.14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-28.6%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0.50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88621067"/>
                      </a:ext>
                    </a:extLst>
                  </a:tr>
                  <a:tr h="7772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5"/>
                          <a:stretch>
                            <a:fillRect l="-599" t="-361719" r="-427545" b="-1078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15.8%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1.05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1.47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-21.8%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0.72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29275173"/>
                      </a:ext>
                    </a:extLst>
                  </a:tr>
                  <a:tr h="777240">
                    <a:tc>
                      <a:txBody>
                        <a:bodyPr/>
                        <a:lstStyle/>
                        <a:p>
                          <a:pPr algn="l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NIFTY 50 Buy &amp; Hold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13.1%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0.79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0.98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-38.4%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>
                            <a:buNone/>
                          </a:pPr>
                          <a:r>
                            <a:rPr lang="en-IN" sz="1500" dirty="0"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0.34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79757129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4AD70779-ECDE-D52A-AAB1-B4FCF1AE4A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66102" y="1740335"/>
            <a:ext cx="6086397" cy="3866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98728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67913-2011-52B2-88BB-5ABF2FDF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8A328E77-856C-EFC5-8313-33F9A1E1E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Live Device-to-Device Demonstration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B8CA20-0E90-A333-7A0D-ACFABAC86427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D02A07E-4C25-F6DA-FF37-1F24672206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51E78E-5892-A8A2-C294-81E06BBAC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12</a:t>
            </a:fld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51CDD2-7436-3399-8C38-028BCD433B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5547" y="1227071"/>
            <a:ext cx="2490845" cy="540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97C947-7B10-0402-3BAF-98521A76E7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08914" y="1226282"/>
            <a:ext cx="2490845" cy="5400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CA267C6-B678-AD09-A0EF-0CE7416F3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4636" y="1225493"/>
            <a:ext cx="2490845" cy="54000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CE01685-84EE-4465-6D6D-E0501F384A0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8732" y="1225493"/>
            <a:ext cx="2490845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0156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5CBCF-C915-46D5-3640-2E50E5FF3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C6A1FE7-BD64-12E6-2556-2F5598ABB4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Explainable AI: The 4-Pillar Trust Card &amp; </a:t>
            </a:r>
            <a:r>
              <a:rPr lang="en-US" sz="2500" b="1" dirty="0" err="1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NitiBot</a:t>
            </a:r>
            <a:endParaRPr lang="en-US" sz="2500" b="1" dirty="0">
              <a:solidFill>
                <a:srgbClr val="C00000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E2A52F3-98A0-C0C2-35D6-57CD1DB70B89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D34B71C-C6E7-3CE9-FF47-9703E55765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969493E-645E-3780-FB3F-27C59EA27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13</a:t>
            </a:fld>
            <a:endParaRPr lang="en-IN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047B73B-6981-A50F-F557-EF268956BA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32396" y="1301618"/>
            <a:ext cx="5877726" cy="3566358"/>
          </a:xfrm>
          <a:prstGeom prst="rect">
            <a:avLst/>
          </a:prstGeom>
        </p:spPr>
      </p:pic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E5C365D7-E1FF-6D14-2FE9-3223E85CDB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5697486"/>
              </p:ext>
            </p:extLst>
          </p:nvPr>
        </p:nvGraphicFramePr>
        <p:xfrm>
          <a:off x="481878" y="1767045"/>
          <a:ext cx="5225181" cy="2473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510857">
                  <a:extLst>
                    <a:ext uri="{9D8B030D-6E8A-4147-A177-3AD203B41FA5}">
                      <a16:colId xmlns:a16="http://schemas.microsoft.com/office/drawing/2014/main" val="4243518769"/>
                    </a:ext>
                  </a:extLst>
                </a:gridCol>
                <a:gridCol w="2714324">
                  <a:extLst>
                    <a:ext uri="{9D8B030D-6E8A-4147-A177-3AD203B41FA5}">
                      <a16:colId xmlns:a16="http://schemas.microsoft.com/office/drawing/2014/main" val="2022910193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4-PILLAR EXPLAINABLE TRUST CARD</a:t>
                      </a:r>
                      <a:endParaRPr lang="en-IN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94052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IN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Regime Context</a:t>
                      </a:r>
                    </a:p>
                    <a:p>
                      <a:pPr marL="0" indent="0"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Active state (e.g. Bull) justifies momentum tilt.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Empirical Reliability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5-Year Directional Hit Rate (64.2% 1M, 71.8% 6M).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25320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Stress Drawdown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Max simulated loss bound (-12.4% vs -28.6% MVO).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Disintermediation Value</a:t>
                      </a:r>
                    </a:p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₹72,400+ saved over 10Y vs. 2% bank advisory fees.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992749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EEEDF9F-F9B7-1086-0872-1D5E000452A4}"/>
              </a:ext>
            </a:extLst>
          </p:cNvPr>
          <p:cNvSpPr txBox="1"/>
          <p:nvPr/>
        </p:nvSpPr>
        <p:spPr>
          <a:xfrm>
            <a:off x="481878" y="4706431"/>
            <a:ext cx="6097604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buNone/>
            </a:pPr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NitiBot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RAG Conversational Copilot: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Powered by Google Gemini 2.5 Flash augmented with local portfolio context, GMM regime data, and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backtest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Eliminates AI hallucinations by grounding responses in local quantitative metrics.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Formatted with hard-coded SEBI disclaimers.</a:t>
            </a:r>
          </a:p>
        </p:txBody>
      </p:sp>
    </p:spTree>
    <p:extLst>
      <p:ext uri="{BB962C8B-B14F-4D97-AF65-F5344CB8AC3E}">
        <p14:creationId xmlns:p14="http://schemas.microsoft.com/office/powerpoint/2010/main" val="30989749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12F5B5-59C9-0185-C80C-17A6695BBE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532A46CA-E18F-89DA-827C-8830B23F3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2500" b="1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Conclusion &amp; Future Roadmap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78B4C-CA0C-7E58-ADEF-953CC2A4D900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8F0C15-EAD5-708D-20A9-B4F1EF0963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E58710E-E5E5-1845-69C9-6ABE259DC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14</a:t>
            </a:fld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F05976-DD85-FC7D-8115-09897116DA71}"/>
              </a:ext>
            </a:extLst>
          </p:cNvPr>
          <p:cNvSpPr txBox="1"/>
          <p:nvPr/>
        </p:nvSpPr>
        <p:spPr>
          <a:xfrm>
            <a:off x="556894" y="1859337"/>
            <a:ext cx="5400000" cy="3960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II Project Deliverables Completed: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designed, implemented, and empirically verified a regime-adaptive portfolio intelligence platform.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Solved the Markowitz covariance inversion problem using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Ledoit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-Wolf shrinkage and Hierarchical Risk Parity.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whole-share integer allocators for any retail capital budget down to ₹5,000.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Verified across 504 full-stack tests (99% backend coverage) and 8 years of historical stress testing.</a:t>
            </a:r>
            <a:endParaRPr lang="en-IN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6A82CE4-263B-8F4B-5B60-1711F5F08C3A}"/>
              </a:ext>
            </a:extLst>
          </p:cNvPr>
          <p:cNvSpPr txBox="1"/>
          <p:nvPr/>
        </p:nvSpPr>
        <p:spPr>
          <a:xfrm>
            <a:off x="6235105" y="1859337"/>
            <a:ext cx="5400000" cy="39600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lvl="0"/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Roadmap: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Multilingual Localization: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Extending </a:t>
            </a:r>
            <a:r>
              <a:rPr lang="en-IN" sz="200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NitiBot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microlearning cards to Hindi, Kannada, and Tamil for tier-2/3 retail investors.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Broker API Execution: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Automated trade routing via Zerodha Kite Connect and Groww Trade APIs upon user consent.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Universe Expansion:</a:t>
            </a:r>
            <a:r>
              <a:rPr lang="en-IN" sz="20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Incorporating NIFTY Midcap 150, Sovereign Gold Bonds (SGBs), and REITs.</a:t>
            </a:r>
          </a:p>
        </p:txBody>
      </p:sp>
    </p:spTree>
    <p:extLst>
      <p:ext uri="{BB962C8B-B14F-4D97-AF65-F5344CB8AC3E}">
        <p14:creationId xmlns:p14="http://schemas.microsoft.com/office/powerpoint/2010/main" val="1921602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D3A40A1E-15C9-4F5B-92E3-A3DA09271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4370" y="187720"/>
            <a:ext cx="9358840" cy="896145"/>
          </a:xfrm>
          <a:noFill/>
          <a:ln w="34925" cmpd="sng">
            <a:solidFill>
              <a:schemeClr val="accent1">
                <a:shade val="50000"/>
              </a:schemeClr>
            </a:solidFill>
          </a:ln>
        </p:spPr>
        <p:txBody>
          <a:bodyPr>
            <a:normAutofit/>
          </a:bodyPr>
          <a:lstStyle/>
          <a:p>
            <a:pPr lvl="0" algn="ctr">
              <a:lnSpc>
                <a:spcPct val="107000"/>
              </a:lnSpc>
            </a:pPr>
            <a:r>
              <a:rPr lang="en-US" sz="3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References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6F93BCC-7F94-40D4-81F8-9237CC4EC1FD}"/>
              </a:ext>
            </a:extLst>
          </p:cNvPr>
          <p:cNvSpPr/>
          <p:nvPr/>
        </p:nvSpPr>
        <p:spPr>
          <a:xfrm>
            <a:off x="120072" y="90089"/>
            <a:ext cx="11942619" cy="6677822"/>
          </a:xfrm>
          <a:prstGeom prst="rect">
            <a:avLst/>
          </a:prstGeom>
          <a:noFill/>
          <a:ln w="73025" cmpd="sng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6D76DE2-433A-4ED7-BD89-8E95C1DFB4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889" y="187720"/>
            <a:ext cx="873901" cy="1000553"/>
          </a:xfrm>
          <a:prstGeom prst="rect">
            <a:avLst/>
          </a:prstGeom>
          <a:blipFill>
            <a:blip r:embed="rId4"/>
            <a:tile tx="0" ty="0" sx="100000" sy="100000" flip="none" algn="tl"/>
          </a:blipFill>
          <a:ln>
            <a:noFill/>
          </a:ln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D5B786F-E1BA-4BF1-B3B9-7B4FA0A61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DE106B-8933-499E-B64E-7DFAEA3B4E58}" type="slidenum">
              <a:rPr lang="en-IN" smtClean="0"/>
              <a:t>15</a:t>
            </a:fld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11D8D6-990D-4463-B012-A9EE74C3D6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873" y="1319145"/>
            <a:ext cx="11629016" cy="5103019"/>
          </a:xfrm>
        </p:spPr>
        <p:txBody>
          <a:bodyPr>
            <a:noAutofit/>
          </a:bodyPr>
          <a:lstStyle/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Journal Papers: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[1] Alam K., Bhuiyan M.H., Haque I.U., Monir M.F., Ahmed T., "Enhancing Stock Market Prediction: A Robust LSTM-DNN Model Analysis on 26 Real-Life Datasets", in IEEE Access, ISSN: 2169-3536, Vol-12, pp. 45210-45228, July 2024.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[2] Wang M., Lin Y.H., </a:t>
            </a:r>
            <a:r>
              <a:rPr lang="en-IN" sz="1400" dirty="0" err="1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Mikhelson</a:t>
            </a:r>
            <a:r>
              <a:rPr lang="en-IN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 I., "Regime-Switching Factor Investing with Hidden Markov Models", in Journal of Risk and Financial Management, ISSN: 1911-8074, Vol-15, Issue-11, pp. 1-19, November 2022.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Conference Paper: 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[3] Mehtab S., Sen J., "Stock Price Prediction Using CNN and LSTM-Based Deep Learning Models", International Conference on Decision Aid Sciences and Applications (DASA 2020), University of Bahrain, </a:t>
            </a:r>
            <a:r>
              <a:rPr lang="en-US" sz="1400" dirty="0" err="1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Sakheer</a:t>
            </a: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, Bahrain, November 8th and 9th 2020.</a:t>
            </a:r>
          </a:p>
          <a:p>
            <a:pPr mar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Book: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[4] "Advances in Financial Machine Learning", Marcos López de Prado, John Wiley &amp; Sons Inc., published: 2018.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IN" sz="1400" dirty="0">
                <a:solidFill>
                  <a:srgbClr val="C00000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Website:</a:t>
            </a: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[5] </a:t>
            </a: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  <a:hlinkClick r:id="rId5"/>
              </a:rPr>
              <a:t>https://www.sebi.gov.in/reports-and-statistics/</a:t>
            </a:r>
            <a:endParaRPr lang="en-US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  <a:p>
            <a:pPr marL="0" lvl="0" indent="0" algn="just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</a:rPr>
              <a:t>[6] </a:t>
            </a:r>
            <a:r>
              <a:rPr lang="en-US" sz="1400" dirty="0">
                <a:solidFill>
                  <a:schemeClr val="tx2"/>
                </a:solidFill>
                <a:latin typeface="Bookman Old Style" panose="02050604050505020204" pitchFamily="18" charset="0"/>
                <a:cs typeface="Times New Roman" panose="02020603050405020304" pitchFamily="18" charset="0"/>
                <a:hlinkClick r:id="rId6"/>
              </a:rPr>
              <a:t>https://www.ncfe.org.in/reports/</a:t>
            </a:r>
            <a:endParaRPr lang="en-US" sz="1400" dirty="0">
              <a:solidFill>
                <a:schemeClr val="tx2"/>
              </a:solidFill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24842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3266</Words>
  <Application>Microsoft Office PowerPoint</Application>
  <PresentationFormat>Widescreen</PresentationFormat>
  <Paragraphs>325</Paragraphs>
  <Slides>15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Bookman Old Style</vt:lpstr>
      <vt:lpstr>Calibri</vt:lpstr>
      <vt:lpstr>Calibri Light</vt:lpstr>
      <vt:lpstr>Cambria Math</vt:lpstr>
      <vt:lpstr>Symbol</vt:lpstr>
      <vt:lpstr>Times New Roman</vt:lpstr>
      <vt:lpstr>Office Theme</vt:lpstr>
      <vt:lpstr>PowerPoint Presentation</vt:lpstr>
      <vt:lpstr>Contents</vt:lpstr>
      <vt:lpstr>Socio-Economic Crisis: The Retail Capital Dilemma</vt:lpstr>
      <vt:lpstr>Platform Audit: Why Existing Solutions Fail Retail Users</vt:lpstr>
      <vt:lpstr>Platform Audit: Why Existing Solutions Fail Retail Users</vt:lpstr>
      <vt:lpstr>Formal Problem Statement</vt:lpstr>
      <vt:lpstr>Engineering Objectives</vt:lpstr>
      <vt:lpstr>End-to-End System Architecture</vt:lpstr>
      <vt:lpstr>Criteria 1: Interfacing of Models &amp; Data Contracts</vt:lpstr>
      <vt:lpstr>Criteria 2: Comprehensive Test Harness &amp; Verification Seams</vt:lpstr>
      <vt:lpstr>Criteria 3: Empirical Performance &amp; Benchmark Outperformance</vt:lpstr>
      <vt:lpstr>Live Device-to-Device Demonstration</vt:lpstr>
      <vt:lpstr>Explainable AI: The 4-Pillar Trust Card &amp; NitiBot</vt:lpstr>
      <vt:lpstr>Conclusion &amp; Future Roadmap</vt:lpstr>
      <vt:lpstr>Academic 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Jayaditya Dev</cp:lastModifiedBy>
  <cp:revision>17</cp:revision>
  <dcterms:modified xsi:type="dcterms:W3CDTF">2026-10-09T06:15:16Z</dcterms:modified>
</cp:coreProperties>
</file>